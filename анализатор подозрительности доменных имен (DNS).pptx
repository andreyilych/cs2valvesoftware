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5"/>
  </p:notesMasterIdLst>
  <p:handoutMasterIdLst>
    <p:handoutMasterId r:id="rId36"/>
  </p:handoutMasterIdLst>
  <p:sldIdLst>
    <p:sldId id="312" r:id="rId5"/>
    <p:sldId id="304" r:id="rId6"/>
    <p:sldId id="323" r:id="rId7"/>
    <p:sldId id="324" r:id="rId8"/>
    <p:sldId id="315" r:id="rId9"/>
    <p:sldId id="307" r:id="rId10"/>
    <p:sldId id="281" r:id="rId11"/>
    <p:sldId id="325" r:id="rId12"/>
    <p:sldId id="326" r:id="rId13"/>
    <p:sldId id="282" r:id="rId14"/>
    <p:sldId id="337" r:id="rId15"/>
    <p:sldId id="322" r:id="rId16"/>
    <p:sldId id="338" r:id="rId17"/>
    <p:sldId id="345" r:id="rId18"/>
    <p:sldId id="329" r:id="rId19"/>
    <p:sldId id="319" r:id="rId20"/>
    <p:sldId id="327" r:id="rId21"/>
    <p:sldId id="317" r:id="rId22"/>
    <p:sldId id="335" r:id="rId23"/>
    <p:sldId id="334" r:id="rId24"/>
    <p:sldId id="318" r:id="rId25"/>
    <p:sldId id="331" r:id="rId26"/>
    <p:sldId id="321" r:id="rId27"/>
    <p:sldId id="333" r:id="rId28"/>
    <p:sldId id="341" r:id="rId29"/>
    <p:sldId id="342" r:id="rId30"/>
    <p:sldId id="344" r:id="rId31"/>
    <p:sldId id="343" r:id="rId32"/>
    <p:sldId id="332" r:id="rId33"/>
    <p:sldId id="297" r:id="rId3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7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294" y="17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Распределение классов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77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05D-446C-B9B7-FD4F2EFDC5FD}"/>
              </c:ext>
            </c:extLst>
          </c:dPt>
          <c:dPt>
            <c:idx val="1"/>
            <c:bubble3D val="0"/>
            <c:spPr>
              <a:solidFill>
                <a:schemeClr val="accent6">
                  <a:shade val="7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05D-446C-B9B7-FD4F2EFDC5F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715DB43-95CE-4AAD-9753-2683C93DC0DE}" type="VALUE">
                      <a:rPr lang="en-US" baseline="0">
                        <a:solidFill>
                          <a:schemeClr val="bg1"/>
                        </a:solidFill>
                      </a:rPr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05D-446C-B9B7-FD4F2EFDC5F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05D-446C-B9B7-FD4F2EFDC5F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Фишинговые</c:v>
                </c:pt>
                <c:pt idx="1">
                  <c:v>Легитимные</c:v>
                </c:pt>
              </c:strCache>
            </c:strRef>
          </c:cat>
          <c:val>
            <c:numRef>
              <c:f>Лист1!$B$2:$B$3</c:f>
              <c:numCache>
                <c:formatCode>0.00%</c:formatCode>
                <c:ptCount val="2"/>
                <c:pt idx="0">
                  <c:v>0.30499999999999999</c:v>
                </c:pt>
                <c:pt idx="1">
                  <c:v>0.69499999999999995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5D-446C-B9B7-FD4F2EFDC5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43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8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85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0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0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929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64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47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99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78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975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564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744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174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3339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94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782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85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Образец заголовка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Вставка рисунка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dreyilych/cs2valvesoftwar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2618773"/>
          </a:xfrm>
        </p:spPr>
        <p:txBody>
          <a:bodyPr anchor="ctr"/>
          <a:lstStyle/>
          <a:p>
            <a:r>
              <a:rPr lang="ru-RU" dirty="0"/>
              <a:t>анализатор подозрительности доменных имен (DNS)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FE76-15B1-41ED-AD6C-F0C25EF829EF}"/>
              </a:ext>
            </a:extLst>
          </p:cNvPr>
          <p:cNvSpPr txBox="1">
            <a:spLocks/>
          </p:cNvSpPr>
          <p:nvPr/>
        </p:nvSpPr>
        <p:spPr>
          <a:xfrm>
            <a:off x="3185822" y="5509403"/>
            <a:ext cx="6583680" cy="1076739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Выполнили: Данилин, Лысенко, Морозов, Сенин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28688"/>
            <a:ext cx="6583680" cy="1129335"/>
          </a:xfrm>
        </p:spPr>
        <p:txBody>
          <a:bodyPr/>
          <a:lstStyle/>
          <a:p>
            <a:r>
              <a:rPr lang="ru-RU" dirty="0"/>
              <a:t>Актуальность и проблема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58023"/>
            <a:ext cx="6583680" cy="4023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Рост фишинговых атак с использованием подозрительных доменов.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Сложность ручной проверки большого числа доменов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28689"/>
            <a:ext cx="6583680" cy="568808"/>
          </a:xfrm>
        </p:spPr>
        <p:txBody>
          <a:bodyPr/>
          <a:lstStyle/>
          <a:p>
            <a:r>
              <a:rPr lang="ru-RU" dirty="0"/>
              <a:t>Цель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497497"/>
            <a:ext cx="6957391" cy="5231917"/>
          </a:xfrm>
        </p:spPr>
        <p:txBody>
          <a:bodyPr>
            <a:noAutofit/>
          </a:bodyPr>
          <a:lstStyle/>
          <a:p>
            <a:r>
              <a:rPr lang="ru-RU" sz="2200" dirty="0"/>
              <a:t>Создать веб‑сервис с API для оценки подозрительности произвольного доменного имени с помощью обученной ML‑модели.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8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6583680" cy="559491"/>
          </a:xfrm>
        </p:spPr>
        <p:txBody>
          <a:bodyPr/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52434"/>
            <a:ext cx="7036904" cy="5369821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Собрать и проанализировать </a:t>
            </a:r>
            <a:r>
              <a:rPr lang="ru-RU" sz="2200" dirty="0" err="1"/>
              <a:t>датасет</a:t>
            </a:r>
            <a:r>
              <a:rPr lang="ru-RU" sz="2200" dirty="0"/>
              <a:t> легитимных и фишинговых доменов.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Обучить модель классификации на C# (ML.NET) с высокой точностью.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Реализовать </a:t>
            </a:r>
            <a:r>
              <a:rPr lang="ru-RU" sz="2200" dirty="0" err="1"/>
              <a:t>backend</a:t>
            </a:r>
            <a:r>
              <a:rPr lang="ru-RU" sz="2200" dirty="0"/>
              <a:t>‑сервер, предоставляющий REST API для проверки доменов.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Разработать </a:t>
            </a:r>
            <a:r>
              <a:rPr lang="ru-RU" sz="2200" dirty="0" err="1"/>
              <a:t>frontend</a:t>
            </a:r>
            <a:r>
              <a:rPr lang="ru-RU" sz="2200" dirty="0"/>
              <a:t>‑сайт с простым интерфейсом для запросов и отображения результата.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Обеспечить автоматическое развёртывание (CI/CD) на хостинге через </a:t>
            </a:r>
            <a:r>
              <a:rPr lang="ru-RU" sz="2200" dirty="0" err="1"/>
              <a:t>GitHub</a:t>
            </a:r>
            <a:r>
              <a:rPr lang="ru-RU" sz="2200" dirty="0"/>
              <a:t>.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71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570095"/>
          </a:xfrm>
        </p:spPr>
        <p:txBody>
          <a:bodyPr/>
          <a:lstStyle/>
          <a:p>
            <a:r>
              <a:rPr lang="ru-RU" dirty="0"/>
              <a:t>Целевая аудитория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6414052" cy="455497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Системные администраторы и специалисты по кибербезопасности.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Рядовые пользователи, желающие быстро проверить домен перед переходом.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Небольшие компании, которым нужен локальный или облачный инструмент без сложных внедрений.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Разработчики, которые могут встроить проверку через API в свои системы.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339919"/>
            <a:ext cx="5723586" cy="4739104"/>
          </a:xfrm>
        </p:spPr>
        <p:txBody>
          <a:bodyPr/>
          <a:lstStyle/>
          <a:p>
            <a:r>
              <a:rPr lang="ru-RU" dirty="0"/>
              <a:t>Лысенко Андрей (</a:t>
            </a:r>
            <a:r>
              <a:rPr lang="ru-RU" dirty="0" err="1"/>
              <a:t>orange</a:t>
            </a:r>
            <a:r>
              <a:rPr lang="ru-RU" dirty="0"/>
              <a:t>) - руководитель, </a:t>
            </a:r>
            <a:r>
              <a:rPr lang="ru-RU" dirty="0" err="1"/>
              <a:t>backend</a:t>
            </a:r>
            <a:r>
              <a:rPr lang="ru-RU" dirty="0"/>
              <a:t>-разработчик (ответственный за ML и её интеграцию)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E4CE7-46FF-47DD-93C0-48898B97DA0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51" r="307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85034"/>
            <a:ext cx="5259554" cy="2495028"/>
          </a:xfrm>
        </p:spPr>
        <p:txBody>
          <a:bodyPr/>
          <a:lstStyle/>
          <a:p>
            <a:r>
              <a:rPr lang="ru-RU" dirty="0"/>
              <a:t>Сенин Максим (</a:t>
            </a:r>
            <a:r>
              <a:rPr lang="ru-RU" dirty="0" err="1"/>
              <a:t>purple</a:t>
            </a:r>
            <a:r>
              <a:rPr lang="ru-RU" dirty="0"/>
              <a:t>) - </a:t>
            </a:r>
            <a:r>
              <a:rPr lang="ru-RU" dirty="0" err="1"/>
              <a:t>frontend</a:t>
            </a:r>
            <a:r>
              <a:rPr lang="ru-RU" dirty="0"/>
              <a:t>-разработчик, дизайнер сайта (ответственный за сайт и интеграцию модели)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73D735-4532-4CD0-991E-2D1124DB35E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4825" r="2482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392927"/>
            <a:ext cx="5723586" cy="4966598"/>
          </a:xfrm>
        </p:spPr>
        <p:txBody>
          <a:bodyPr/>
          <a:lstStyle/>
          <a:p>
            <a:r>
              <a:rPr lang="ru-RU" dirty="0"/>
              <a:t>Данилин Дмитрий (</a:t>
            </a:r>
            <a:r>
              <a:rPr lang="ru-RU" dirty="0" err="1"/>
              <a:t>green</a:t>
            </a:r>
            <a:r>
              <a:rPr lang="ru-RU" dirty="0"/>
              <a:t>) - визуализатор данных, разработчик презентации, дизайнер сайта (ответственный за презентацию)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99E0B1-1165-4B5C-826E-E94275B01B0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51" r="307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9032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6" y="649194"/>
            <a:ext cx="5259554" cy="5970392"/>
          </a:xfrm>
        </p:spPr>
        <p:txBody>
          <a:bodyPr/>
          <a:lstStyle/>
          <a:p>
            <a:r>
              <a:rPr lang="ru-RU" dirty="0"/>
              <a:t>Морозов Владимир (</a:t>
            </a:r>
            <a:r>
              <a:rPr lang="ru-RU" dirty="0" err="1"/>
              <a:t>blue</a:t>
            </a:r>
            <a:r>
              <a:rPr lang="ru-RU" dirty="0"/>
              <a:t>) – тестировщик, ассистент разработчика презентации, презентатор (демонстрирует продукт и его работу)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FC2F8B-7F26-4EF3-BA5D-1A65DEB3903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6301" r="1630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5305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1" y="131568"/>
            <a:ext cx="8896186" cy="1122750"/>
          </a:xfrm>
        </p:spPr>
        <p:txBody>
          <a:bodyPr/>
          <a:lstStyle/>
          <a:p>
            <a:r>
              <a:rPr lang="ru-RU" dirty="0"/>
              <a:t>Используемые данные (</a:t>
            </a:r>
            <a:r>
              <a:rPr lang="ru-RU" dirty="0" err="1"/>
              <a:t>датасет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9840" y="1254318"/>
            <a:ext cx="5203307" cy="56036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Используемый </a:t>
            </a:r>
            <a:r>
              <a:rPr lang="ru-RU" sz="2200" dirty="0" err="1"/>
              <a:t>датасет</a:t>
            </a:r>
            <a:r>
              <a:rPr lang="ru-RU" sz="2200" dirty="0"/>
              <a:t>:</a:t>
            </a:r>
            <a:br>
              <a:rPr lang="ru-RU" sz="2200" dirty="0"/>
            </a:br>
            <a:r>
              <a:rPr lang="af-ZA" sz="2200" dirty="0">
                <a:solidFill>
                  <a:srgbClr val="7030A0"/>
                </a:solidFill>
              </a:rPr>
              <a:t>https://www.kaggle.com/datasets/hassaanmustafavi/phishing-urls-dataset?resource=download </a:t>
            </a:r>
            <a:r>
              <a:rPr lang="af-ZA" sz="2200" dirty="0">
                <a:solidFill>
                  <a:srgbClr val="202C8F"/>
                </a:solidFill>
              </a:rPr>
              <a:t>Phishing URLs Dataset </a:t>
            </a:r>
            <a:r>
              <a:rPr lang="ru-RU" sz="2200" dirty="0">
                <a:solidFill>
                  <a:srgbClr val="202C8F"/>
                </a:solidFill>
              </a:rPr>
              <a:t>(автор: </a:t>
            </a:r>
            <a:r>
              <a:rPr lang="af-ZA" sz="2200" dirty="0">
                <a:solidFill>
                  <a:srgbClr val="202C8F"/>
                </a:solidFill>
              </a:rPr>
              <a:t>Hassaan Mustafavi</a:t>
            </a:r>
            <a:r>
              <a:rPr lang="ru-RU" sz="2200" dirty="0">
                <a:solidFill>
                  <a:srgbClr val="202C8F"/>
                </a:solidFill>
              </a:rPr>
              <a:t>).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202C8F"/>
                </a:solidFill>
              </a:rPr>
              <a:t>Подготовка данных:</a:t>
            </a:r>
          </a:p>
          <a:p>
            <a:r>
              <a:rPr lang="ru-RU" sz="2200" dirty="0">
                <a:solidFill>
                  <a:srgbClr val="202C8F"/>
                </a:solidFill>
              </a:rPr>
              <a:t>Исходный </a:t>
            </a:r>
            <a:r>
              <a:rPr lang="ru-RU" sz="2200" dirty="0" err="1">
                <a:solidFill>
                  <a:srgbClr val="202C8F"/>
                </a:solidFill>
              </a:rPr>
              <a:t>датасет</a:t>
            </a:r>
            <a:r>
              <a:rPr lang="ru-RU" sz="2200" dirty="0">
                <a:solidFill>
                  <a:srgbClr val="202C8F"/>
                </a:solidFill>
              </a:rPr>
              <a:t> очищен от дубликатов </a:t>
            </a:r>
          </a:p>
          <a:p>
            <a:r>
              <a:rPr lang="ru-RU" sz="2200" dirty="0">
                <a:solidFill>
                  <a:srgbClr val="202C8F"/>
                </a:solidFill>
              </a:rPr>
              <a:t>Проведена балансировка данных</a:t>
            </a:r>
          </a:p>
          <a:p>
            <a:r>
              <a:rPr lang="ru-RU" sz="2200" dirty="0">
                <a:solidFill>
                  <a:srgbClr val="202C8F"/>
                </a:solidFill>
              </a:rPr>
              <a:t>Добавлены признаки</a:t>
            </a:r>
          </a:p>
          <a:p>
            <a:r>
              <a:rPr lang="ru-RU" sz="2200" dirty="0">
                <a:solidFill>
                  <a:srgbClr val="202C8F"/>
                </a:solidFill>
              </a:rPr>
              <a:t>В итоге </a:t>
            </a:r>
            <a:r>
              <a:rPr lang="ru-RU" sz="2200" dirty="0" err="1">
                <a:solidFill>
                  <a:srgbClr val="202C8F"/>
                </a:solidFill>
              </a:rPr>
              <a:t>датасет</a:t>
            </a:r>
            <a:r>
              <a:rPr lang="ru-RU" sz="2200" dirty="0">
                <a:solidFill>
                  <a:srgbClr val="202C8F"/>
                </a:solidFill>
              </a:rPr>
              <a:t> содержит </a:t>
            </a:r>
            <a:r>
              <a:rPr lang="ru-RU" sz="2400" dirty="0"/>
              <a:t>160081 </a:t>
            </a:r>
            <a:r>
              <a:rPr lang="en-US" sz="2400" dirty="0"/>
              <a:t>URL </a:t>
            </a:r>
            <a:r>
              <a:rPr lang="ru-RU" sz="2400" dirty="0"/>
              <a:t>и 27 признаков</a:t>
            </a:r>
            <a:endParaRPr lang="ru-RU" sz="2200" dirty="0">
              <a:solidFill>
                <a:srgbClr val="202C8F"/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A189CDD2-38D8-48E0-BF73-53F7C4BCD6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331152"/>
              </p:ext>
            </p:extLst>
          </p:nvPr>
        </p:nvGraphicFramePr>
        <p:xfrm>
          <a:off x="7374464" y="5532922"/>
          <a:ext cx="4724400" cy="13161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98504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1366487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759409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ru-RU" dirty="0"/>
                        <a:t>Всего </a:t>
                      </a:r>
                      <a:r>
                        <a:rPr lang="en-US" dirty="0"/>
                        <a:t>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Фишинг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Легитимные 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ru-RU" sz="1800" dirty="0"/>
                        <a:t>160081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48875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111206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</a:tbl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BCB98B98-13E9-4A15-967D-EE2E66D4D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776442"/>
              </p:ext>
            </p:extLst>
          </p:nvPr>
        </p:nvGraphicFramePr>
        <p:xfrm>
          <a:off x="7374464" y="1239638"/>
          <a:ext cx="4724400" cy="4284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1" y="131568"/>
            <a:ext cx="8896186" cy="1122750"/>
          </a:xfrm>
        </p:spPr>
        <p:txBody>
          <a:bodyPr/>
          <a:lstStyle/>
          <a:p>
            <a:r>
              <a:rPr lang="ru-RU" dirty="0"/>
              <a:t>Почему выбран </a:t>
            </a:r>
            <a:br>
              <a:rPr lang="ru-RU" dirty="0"/>
            </a:br>
            <a:r>
              <a:rPr lang="af-ZA" dirty="0"/>
              <a:t>Phishing URLs 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9840" y="1254318"/>
            <a:ext cx="9662159" cy="5603682"/>
          </a:xfrm>
        </p:spPr>
        <p:txBody>
          <a:bodyPr>
            <a:noAutofit/>
          </a:bodyPr>
          <a:lstStyle/>
          <a:p>
            <a:r>
              <a:rPr lang="ru-RU" sz="2200" b="1" dirty="0"/>
              <a:t>Масштаб и разнообразие</a:t>
            </a:r>
            <a:br>
              <a:rPr lang="ru-RU" sz="2200" dirty="0"/>
            </a:br>
            <a:r>
              <a:rPr lang="ru-RU" sz="2200" dirty="0"/>
              <a:t>Более 450 000 реальных URL из разных источников покрывают широкий спектр фишинговых и легитимных паттернов, а также 25?? признаков.</a:t>
            </a:r>
          </a:p>
          <a:p>
            <a:r>
              <a:rPr lang="ru-RU" sz="2200" b="1" dirty="0"/>
              <a:t>Актуальность и качество</a:t>
            </a:r>
            <a:br>
              <a:rPr lang="ru-RU" sz="2200" dirty="0"/>
            </a:br>
            <a:r>
              <a:rPr lang="ru-RU" sz="2200" dirty="0"/>
              <a:t>Данные предварительно очищены и подготовлены для </a:t>
            </a:r>
            <a:r>
              <a:rPr lang="ru-RU" sz="2200" dirty="0" err="1"/>
              <a:t>machine</a:t>
            </a:r>
            <a:r>
              <a:rPr lang="ru-RU" sz="2200" dirty="0"/>
              <a:t> </a:t>
            </a:r>
            <a:r>
              <a:rPr lang="ru-RU" sz="2200" dirty="0" err="1"/>
              <a:t>learning</a:t>
            </a:r>
            <a:r>
              <a:rPr lang="ru-RU" sz="2200" dirty="0"/>
              <a:t>, что сократило время предобработки и позволило сосредоточиться на обучении модели.</a:t>
            </a:r>
          </a:p>
          <a:p>
            <a:r>
              <a:rPr lang="ru-RU" sz="2200" b="1" dirty="0"/>
              <a:t>Сбалансированность классов</a:t>
            </a:r>
            <a:br>
              <a:rPr lang="ru-RU" sz="2200" dirty="0"/>
            </a:br>
            <a:r>
              <a:rPr lang="ru-RU" sz="2200" dirty="0"/>
              <a:t>Изначально близкое к равному распределение </a:t>
            </a:r>
            <a:r>
              <a:rPr lang="ru-RU" sz="2200" dirty="0" err="1"/>
              <a:t>phishing</a:t>
            </a:r>
            <a:r>
              <a:rPr lang="ru-RU" sz="2200" dirty="0"/>
              <a:t>/</a:t>
            </a:r>
            <a:r>
              <a:rPr lang="ru-RU" sz="2200" dirty="0" err="1"/>
              <a:t>legitimate</a:t>
            </a:r>
            <a:r>
              <a:rPr lang="ru-RU" sz="2200" dirty="0"/>
              <a:t> обеспечило устойчивость модели без дополнительной балансировки на ранних этапах.</a:t>
            </a:r>
          </a:p>
          <a:p>
            <a:r>
              <a:rPr lang="ru-RU" sz="2200" b="1" dirty="0"/>
              <a:t>Простота интеграции</a:t>
            </a:r>
            <a:br>
              <a:rPr lang="ru-RU" sz="2200" dirty="0"/>
            </a:br>
            <a:r>
              <a:rPr lang="ru-RU" sz="2200" dirty="0"/>
              <a:t>Стандартный CSV-формат легко загружается в ML.NET без дополнительных зависимостей и сложных </a:t>
            </a:r>
            <a:r>
              <a:rPr lang="ru-RU" sz="2200" dirty="0" err="1"/>
              <a:t>пайплайнов</a:t>
            </a:r>
            <a:r>
              <a:rPr lang="ru-RU" sz="2200" dirty="0"/>
              <a:t> обработки.</a:t>
            </a:r>
            <a:endParaRPr lang="ru-RU" sz="2200" dirty="0">
              <a:solidFill>
                <a:srgbClr val="202C8F"/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0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ru-RU" dirty="0"/>
              <a:t>Источники данных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A2C253-428A-4EC9-9418-123E65BDA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316067"/>
            <a:ext cx="10511627" cy="3484659"/>
          </a:xfrm>
        </p:spPr>
        <p:txBody>
          <a:bodyPr>
            <a:normAutofit/>
          </a:bodyPr>
          <a:lstStyle/>
          <a:p>
            <a:r>
              <a:rPr lang="ru-RU" sz="2200" dirty="0"/>
              <a:t>Фишинговые URL: собраны из актуальных открытых баз угроз (</a:t>
            </a:r>
            <a:r>
              <a:rPr lang="ru-RU" sz="2200" dirty="0" err="1"/>
              <a:t>PhishTank</a:t>
            </a:r>
            <a:r>
              <a:rPr lang="ru-RU" sz="2200" dirty="0"/>
              <a:t>, </a:t>
            </a:r>
            <a:r>
              <a:rPr lang="ru-RU" sz="2200" dirty="0" err="1"/>
              <a:t>OpenPhish</a:t>
            </a:r>
            <a:r>
              <a:rPr lang="ru-RU" sz="2200" dirty="0"/>
              <a:t>) и вручную верифицированы автором </a:t>
            </a:r>
            <a:r>
              <a:rPr lang="ru-RU" sz="2200" dirty="0" err="1"/>
              <a:t>датасета</a:t>
            </a:r>
            <a:r>
              <a:rPr lang="ru-RU" sz="2200" dirty="0"/>
              <a:t> — реальные примеры атак без «мусорных» записей.</a:t>
            </a:r>
          </a:p>
          <a:p>
            <a:r>
              <a:rPr lang="ru-RU" sz="2200" dirty="0"/>
              <a:t>Легитимные URL: отобраны из авторитетных рейтингов и каталогов (</a:t>
            </a:r>
            <a:r>
              <a:rPr lang="ru-RU" sz="2200" dirty="0" err="1"/>
              <a:t>Alexa</a:t>
            </a:r>
            <a:r>
              <a:rPr lang="ru-RU" sz="2200" dirty="0"/>
              <a:t> Top </a:t>
            </a:r>
            <a:r>
              <a:rPr lang="ru-RU" sz="2200" dirty="0" err="1"/>
              <a:t>Sites</a:t>
            </a:r>
            <a:r>
              <a:rPr lang="ru-RU" sz="2200" dirty="0"/>
              <a:t>, DMOZ, Wikipedia) для максимального разнообразия безопасных доменов.</a:t>
            </a:r>
          </a:p>
          <a:p>
            <a:r>
              <a:rPr lang="ru-RU" sz="2200" dirty="0"/>
              <a:t>Особенность: изначально </a:t>
            </a:r>
            <a:r>
              <a:rPr lang="ru-RU" sz="2200" dirty="0" err="1"/>
              <a:t>датасет</a:t>
            </a:r>
            <a:r>
              <a:rPr lang="ru-RU" sz="2200" dirty="0"/>
              <a:t> сбалансирован по классам, а дополнительная очистка и отбор признаков с нашей стороны повысили устойчивость модели к шумам.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928688"/>
            <a:ext cx="10511627" cy="619126"/>
          </a:xfrm>
        </p:spPr>
        <p:txBody>
          <a:bodyPr/>
          <a:lstStyle/>
          <a:p>
            <a:r>
              <a:rPr lang="ru-RU" dirty="0"/>
              <a:t>Источники данных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A2C253-428A-4EC9-9418-123E65BDA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20" y="1584962"/>
            <a:ext cx="11323320" cy="52730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b="1" dirty="0"/>
              <a:t>Источники фишинговых URL</a:t>
            </a:r>
          </a:p>
          <a:p>
            <a:pPr marL="0" indent="0">
              <a:buNone/>
            </a:pPr>
            <a:r>
              <a:rPr lang="ru-RU" sz="2200" b="1" dirty="0" err="1"/>
              <a:t>PhishTank</a:t>
            </a:r>
            <a:r>
              <a:rPr lang="ru-RU" sz="2200" dirty="0"/>
              <a:t> — бесплатный коллективный сервис (с 2006 г., управляется Cisco </a:t>
            </a:r>
            <a:r>
              <a:rPr lang="ru-RU" sz="2200" dirty="0" err="1"/>
              <a:t>Talos</a:t>
            </a:r>
            <a:r>
              <a:rPr lang="ru-RU" sz="2200" dirty="0"/>
              <a:t>), где любой может отправить, проверить и отследить фишинговые ссылки. Предоставляет открытое API и считается отраслевым стандартом для </a:t>
            </a:r>
            <a:r>
              <a:rPr lang="ru-RU" sz="2200" dirty="0" err="1"/>
              <a:t>антифишинговых</a:t>
            </a:r>
            <a:r>
              <a:rPr lang="ru-RU" sz="2200" dirty="0"/>
              <a:t> исследований.</a:t>
            </a:r>
            <a:br>
              <a:rPr lang="ru-RU" sz="2200" dirty="0"/>
            </a:br>
            <a:r>
              <a:rPr lang="ru-RU" sz="2200" b="1" dirty="0" err="1"/>
              <a:t>OpenPhish</a:t>
            </a:r>
            <a:r>
              <a:rPr lang="ru-RU" sz="2200" dirty="0"/>
              <a:t> — полностью автоматическая платформа (разработана </a:t>
            </a:r>
            <a:r>
              <a:rPr lang="ru-RU" sz="2200" dirty="0" err="1"/>
              <a:t>FraudSense</a:t>
            </a:r>
            <a:r>
              <a:rPr lang="ru-RU" sz="2200" dirty="0"/>
              <a:t>), которая с помощью ИИ выявляет фишинговые сайты в реальном времени без опоры на черные списки. Предоставляет непрерывно обновляемую ленту глобальных фишинговых URL.</a:t>
            </a:r>
          </a:p>
          <a:p>
            <a:pPr marL="0" indent="0">
              <a:buNone/>
            </a:pPr>
            <a:r>
              <a:rPr lang="ru-RU" sz="2200" b="1" dirty="0"/>
              <a:t>Источники легитимных URL</a:t>
            </a:r>
          </a:p>
          <a:p>
            <a:pPr marL="0" indent="0">
              <a:buNone/>
            </a:pPr>
            <a:r>
              <a:rPr lang="ru-RU" sz="2200" b="1" dirty="0" err="1"/>
              <a:t>Alexa</a:t>
            </a:r>
            <a:r>
              <a:rPr lang="ru-RU" sz="2200" b="1" dirty="0"/>
              <a:t> Top </a:t>
            </a:r>
            <a:r>
              <a:rPr lang="ru-RU" sz="2200" b="1" dirty="0" err="1"/>
              <a:t>Sites</a:t>
            </a:r>
            <a:r>
              <a:rPr lang="ru-RU" sz="2200" b="1" dirty="0"/>
              <a:t> </a:t>
            </a:r>
            <a:r>
              <a:rPr lang="ru-RU" sz="2200" dirty="0"/>
              <a:t>— сервис рейтинга сайтов (дочерний проект Amazon, закрыт в 2022 г.), предоставлявший список 1 млн самых посещаемых сайтов мира. Использовался в исследованиях как источник эталонных легитимных доменов.</a:t>
            </a:r>
            <a:br>
              <a:rPr lang="ru-RU" sz="2200" dirty="0"/>
            </a:br>
            <a:r>
              <a:rPr lang="ru-RU" sz="2200" b="1" dirty="0"/>
              <a:t>DMOZ</a:t>
            </a:r>
            <a:r>
              <a:rPr lang="ru-RU" sz="2200" dirty="0"/>
              <a:t> — многоязычный свободный каталог сайтов (поддерживался AOL и сообществом редакторов-волонтеров), где все записи проходили ручную модерацию. Один из крупнейших структурированных источников ссылок своего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073560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44C23F-1519-42D0-B6F2-6E99D5E94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791" y="0"/>
            <a:ext cx="82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32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ru-RU" dirty="0"/>
              <a:t>Примеры записей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18895664"/>
              </p:ext>
            </p:extLst>
          </p:nvPr>
        </p:nvGraphicFramePr>
        <p:xfrm>
          <a:off x="2198285" y="2273439"/>
          <a:ext cx="8160152" cy="460653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ru-RU" dirty="0"/>
                        <a:t>Домен (</a:t>
                      </a:r>
                      <a:r>
                        <a:rPr lang="en-US" dirty="0"/>
                        <a:t>URL)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Метка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google.com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✅ </a:t>
                      </a:r>
                      <a:r>
                        <a:rPr lang="af-ZA" dirty="0"/>
                        <a:t>Legitimate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secure-update-paypal.com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⚠️ Phishing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en.wikipedia.org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✅ </a:t>
                      </a:r>
                      <a:r>
                        <a:rPr lang="af-ZA" dirty="0"/>
                        <a:t>Legitimate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192.168.1.1/login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⚠️ Phishing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bit.ly/3xyz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⚠️ Phishing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af-ZA" dirty="0"/>
                        <a:t>github.com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✅ </a:t>
                      </a:r>
                      <a:r>
                        <a:rPr lang="af-ZA" dirty="0"/>
                        <a:t>Legitimate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55774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21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97424"/>
            <a:ext cx="9879437" cy="1114541"/>
          </a:xfrm>
        </p:spPr>
        <p:txBody>
          <a:bodyPr/>
          <a:lstStyle/>
          <a:p>
            <a:r>
              <a:rPr lang="ru-RU" dirty="0"/>
              <a:t>Сравнительная таблица конкурентов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64634239"/>
              </p:ext>
            </p:extLst>
          </p:nvPr>
        </p:nvGraphicFramePr>
        <p:xfrm>
          <a:off x="1152939" y="1458754"/>
          <a:ext cx="10273087" cy="526956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2941982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2321783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Название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Что делает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Плюсы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Минусы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VirusTotal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Проверяет домены по базе 90+ антивирусов (черные списки, репутация).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Бесплатный, огромная база знаний, есть API.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Нет собственного вердикта, избыточность данных, лимиты на API, неудобен для массовых проверок.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Cisco Umbrella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На уровне DNS-запросов блокирует подключения к вредоносным доменам.	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Проактивная защита, работает для всей сети, большая база репутации.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Платное корпоративное решение (от $10 000/год), требует настройки сети.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6"/>
                          </a:solidFill>
                        </a:rPr>
                        <a:t>Gridinsoft</a:t>
                      </a:r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 Inspector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Предоставляет API для проверки репутации доменов и выявления фишинга.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Удобное API для разработчиков, есть бесплатный план (100 кредитов/</a:t>
                      </a:r>
                      <a:r>
                        <a:rPr lang="ru-RU" dirty="0" err="1">
                          <a:solidFill>
                            <a:schemeClr val="accent6"/>
                          </a:solidFill>
                        </a:rPr>
                        <a:t>мес</a:t>
                      </a:r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).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6"/>
                          </a:solidFill>
                        </a:rPr>
                        <a:t>Платный для больших объемов, "черный ящик", непрозрачный алгоритм.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97424"/>
            <a:ext cx="9879437" cy="597706"/>
          </a:xfrm>
        </p:spPr>
        <p:txBody>
          <a:bodyPr/>
          <a:lstStyle/>
          <a:p>
            <a:r>
              <a:rPr lang="ru-RU" dirty="0"/>
              <a:t>Сравнение с нашим проектом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6035707"/>
              </p:ext>
            </p:extLst>
          </p:nvPr>
        </p:nvGraphicFramePr>
        <p:xfrm>
          <a:off x="1152939" y="1458755"/>
          <a:ext cx="10277060" cy="555500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63723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4110825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3802512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</a:tblGrid>
              <a:tr h="849782">
                <a:tc>
                  <a:txBody>
                    <a:bodyPr/>
                    <a:lstStyle/>
                    <a:p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Конкуренты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Наш </a:t>
                      </a:r>
                      <a:r>
                        <a:rPr lang="af-ZA" sz="2200" dirty="0">
                          <a:solidFill>
                            <a:schemeClr val="accent6"/>
                          </a:solidFill>
                        </a:rPr>
                        <a:t>DNS-</a:t>
                      </a:r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анализатор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895403"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Скорость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Могут выполняться секунды.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Ответ моментальный.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1100460"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Прозрачность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В основном "черные ящики".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Открытый исходный код.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1276800"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Технологии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Разный стек, часто </a:t>
                      </a:r>
                      <a:r>
                        <a:rPr lang="af-ZA" sz="2200" dirty="0">
                          <a:solidFill>
                            <a:schemeClr val="accent6"/>
                          </a:solidFill>
                        </a:rPr>
                        <a:t>Python.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C# и ML.NET: производительное, бесшовное решение в экосистеме .NET.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1276800"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Доступность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Дорогие API или сложные внедрения.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>
                          <a:solidFill>
                            <a:schemeClr val="accent6"/>
                          </a:solidFill>
                        </a:rPr>
                        <a:t>Простое API для любой системы, бесплатный.</a:t>
                      </a:r>
                      <a:endParaRPr lang="en-US" sz="22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50915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07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ru-RU" dirty="0"/>
              <a:t>Модель машинного обучения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050157" cy="414337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Платформа: </a:t>
            </a:r>
            <a:r>
              <a:rPr lang="en-US" sz="2200" dirty="0"/>
              <a:t>ML.NET </a:t>
            </a:r>
            <a:r>
              <a:rPr lang="ru-RU" sz="2200" dirty="0"/>
              <a:t>на </a:t>
            </a:r>
            <a:r>
              <a:rPr lang="en-US" sz="2200" dirty="0"/>
              <a:t>C#. </a:t>
            </a:r>
            <a:r>
              <a:rPr lang="ru-RU" sz="2200" dirty="0"/>
              <a:t>Никакого </a:t>
            </a:r>
            <a:r>
              <a:rPr lang="en-US" sz="2200" dirty="0"/>
              <a:t>Python – </a:t>
            </a:r>
            <a:r>
              <a:rPr lang="ru-RU" sz="2200" dirty="0"/>
              <a:t>всё в единой экосистеме .</a:t>
            </a:r>
            <a:r>
              <a:rPr lang="en-US" sz="2200" dirty="0"/>
              <a:t>NET, </a:t>
            </a:r>
            <a:r>
              <a:rPr lang="ru-RU" sz="2200" dirty="0"/>
              <a:t>простота развёртывания.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Алгоритм: бинарный классификатор </a:t>
            </a:r>
            <a:r>
              <a:rPr lang="en-US" sz="2200" dirty="0" err="1"/>
              <a:t>FastTree</a:t>
            </a:r>
            <a:r>
              <a:rPr lang="ru-RU" sz="2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Процесс обучения: </a:t>
            </a:r>
          </a:p>
          <a:p>
            <a:r>
              <a:rPr lang="ru-RU" sz="2200" dirty="0"/>
              <a:t>Загрузка </a:t>
            </a:r>
            <a:r>
              <a:rPr lang="en-US" sz="2200" dirty="0"/>
              <a:t>legitphish_clean.csv.</a:t>
            </a:r>
          </a:p>
          <a:p>
            <a:r>
              <a:rPr lang="ru-RU" sz="2200" dirty="0"/>
              <a:t>Извлечение признаков и обучение в </a:t>
            </a:r>
            <a:r>
              <a:rPr lang="en-US" sz="2200" dirty="0" err="1"/>
              <a:t>DnsModelTrainer</a:t>
            </a:r>
            <a:r>
              <a:rPr lang="en-US" sz="2200" dirty="0"/>
              <a:t>.</a:t>
            </a:r>
          </a:p>
          <a:p>
            <a:r>
              <a:rPr lang="ru-RU" sz="2200" dirty="0"/>
              <a:t>Сохранение </a:t>
            </a:r>
            <a:r>
              <a:rPr lang="en-US" sz="2200" dirty="0"/>
              <a:t>dns_suspicion_model.zip.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D133023-2941-4226-8A6A-2515314DB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ru-RU" dirty="0"/>
              <a:t>Описание алгоритма </a:t>
            </a:r>
            <a:r>
              <a:rPr lang="af-ZA" dirty="0"/>
              <a:t>FastTree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050157" cy="4143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f-ZA" sz="2200" dirty="0"/>
              <a:t>FastTree — </a:t>
            </a:r>
            <a:r>
              <a:rPr lang="ru-RU" sz="2200" dirty="0"/>
              <a:t>реализация градиентного </a:t>
            </a:r>
            <a:r>
              <a:rPr lang="ru-RU" sz="2200" dirty="0" err="1"/>
              <a:t>бустинга</a:t>
            </a:r>
            <a:r>
              <a:rPr lang="ru-RU" sz="2200" dirty="0"/>
              <a:t> деревьев решений в </a:t>
            </a:r>
            <a:r>
              <a:rPr lang="af-ZA" sz="2200" dirty="0"/>
              <a:t>ML.NET. </a:t>
            </a:r>
            <a:r>
              <a:rPr lang="ru-RU" sz="2200" dirty="0"/>
              <a:t>Алгоритм строит ансамбль решающих деревьев, минимизируя функцию потерь градиентным спуском. Ключевые гиперпараметры, использованные при обучении: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200" dirty="0"/>
              <a:t>Number of Trees (</a:t>
            </a:r>
            <a:r>
              <a:rPr lang="ru-RU" sz="2200" dirty="0"/>
              <a:t>количество деревьев): 100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200" dirty="0"/>
              <a:t>Number of Leaves (</a:t>
            </a:r>
            <a:r>
              <a:rPr lang="ru-RU" sz="2200" dirty="0"/>
              <a:t>число листьев на дерево):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200" dirty="0"/>
              <a:t>Learning Rate (</a:t>
            </a:r>
            <a:r>
              <a:rPr lang="ru-RU" sz="2200" dirty="0"/>
              <a:t>темп обучения): 0.2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200" dirty="0"/>
              <a:t>Minimum Example Count per Leaf: 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f-ZA" sz="2200" dirty="0"/>
              <a:t>Feature Fraction: 0.7 (</a:t>
            </a:r>
            <a:r>
              <a:rPr lang="ru-RU" sz="2200" dirty="0"/>
              <a:t>доля признаков для построения одного дерева)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D133023-2941-4226-8A6A-2515314DB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2043926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ru-RU" dirty="0"/>
              <a:t>Метрики качества модели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050157" cy="943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200" dirty="0"/>
              <a:t>Модель демонстрирует высокую устойчивость: ложноположительные срабатывания минимальны, что критично для безопасности.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D133023-2941-4226-8A6A-2515314DB1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84597B91-405C-4C29-AB5A-96940C12B2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110512"/>
              </p:ext>
            </p:extLst>
          </p:nvPr>
        </p:nvGraphicFramePr>
        <p:xfrm>
          <a:off x="666254" y="3429001"/>
          <a:ext cx="8128000" cy="28575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8978686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04807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Метрика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58703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af-ZA" sz="2200" dirty="0"/>
                        <a:t>Accuracy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87163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af-ZA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2321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af-ZA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F1-score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45281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AUC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953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32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ru-RU" dirty="0"/>
              <a:t>Почему C# и ML.NET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410876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Отсутствие Python‑зависимостей, не требуется интерпретатор.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Бесшовная интеграция с ASP.NET Core – модель загружается один раз при старте сервера.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Высокая производительность: нативное выполнение, быстрый </a:t>
            </a:r>
            <a:r>
              <a:rPr lang="ru-RU" dirty="0" err="1"/>
              <a:t>инференс</a:t>
            </a:r>
            <a:r>
              <a:rPr lang="ru-RU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Кроссплатформенность, контейнеризация через </a:t>
            </a:r>
            <a:r>
              <a:rPr lang="ru-RU" dirty="0" err="1"/>
              <a:t>Docker</a:t>
            </a:r>
            <a:r>
              <a:rPr lang="ru-RU" dirty="0"/>
              <a:t> без лишних слоёв.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Модель – просто </a:t>
            </a:r>
            <a:r>
              <a:rPr lang="ru-RU" dirty="0" err="1"/>
              <a:t>zip</a:t>
            </a:r>
            <a:r>
              <a:rPr lang="ru-RU" dirty="0"/>
              <a:t>‑архив, легко обновляется.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F4B158C-A2A1-4EE2-B7CC-3152E45AB3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ru-RU" dirty="0"/>
              <a:t>Деплой и инфраструктура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02682" y="2303028"/>
            <a:ext cx="3288136" cy="396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Мы упаковали сервис в </a:t>
            </a:r>
            <a:r>
              <a:rPr lang="ru-RU" sz="2200" dirty="0" err="1"/>
              <a:t>Docker</a:t>
            </a:r>
            <a:r>
              <a:rPr lang="ru-RU" sz="2200" dirty="0"/>
              <a:t>-контейнеры и настроили полный цикл: </a:t>
            </a:r>
            <a:r>
              <a:rPr lang="ru-RU" sz="2200" dirty="0" err="1"/>
              <a:t>пуш</a:t>
            </a:r>
            <a:r>
              <a:rPr lang="ru-RU" sz="2200" dirty="0"/>
              <a:t> в </a:t>
            </a:r>
            <a:r>
              <a:rPr lang="ru-RU" sz="2200" dirty="0" err="1"/>
              <a:t>GitHub</a:t>
            </a:r>
            <a:r>
              <a:rPr lang="ru-RU" sz="2200" dirty="0"/>
              <a:t> → сборка образов → </a:t>
            </a:r>
            <a:r>
              <a:rPr lang="ru-RU" sz="2200" dirty="0" err="1"/>
              <a:t>автообновление</a:t>
            </a:r>
            <a:r>
              <a:rPr lang="ru-RU" sz="2200" dirty="0"/>
              <a:t> на боевом сервере.</a:t>
            </a:r>
            <a:endParaRPr lang="en-US" sz="2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D38D80-2B21-43C8-8BDF-4F1DBCF24AD6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18" y="2185605"/>
            <a:ext cx="6936756" cy="380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171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ru-RU" dirty="0"/>
              <a:t>Демонстрация работы сайта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2A34F2D-CA2E-4097-A639-7115A5A6AD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16000" y="2155295"/>
            <a:ext cx="5512766" cy="4024827"/>
          </a:xfrm>
        </p:spPr>
      </p:pic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C4AF95E6-2A7C-4BC7-9561-8A628F981B5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4"/>
          <a:stretch>
            <a:fillRect/>
          </a:stretch>
        </p:blipFill>
        <p:spPr>
          <a:xfrm>
            <a:off x="6528766" y="2158453"/>
            <a:ext cx="4835040" cy="4021670"/>
          </a:xfr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1152526"/>
          </a:xfrm>
        </p:spPr>
        <p:txBody>
          <a:bodyPr/>
          <a:lstStyle/>
          <a:p>
            <a:r>
              <a:rPr lang="ru-RU" dirty="0"/>
              <a:t>Итоги работы по спринтам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2338388"/>
            <a:ext cx="7043618" cy="4519612"/>
          </a:xfrm>
        </p:spPr>
        <p:txBody>
          <a:bodyPr>
            <a:normAutofit lnSpcReduction="10000"/>
          </a:bodyPr>
          <a:lstStyle/>
          <a:p>
            <a:r>
              <a:rPr lang="ru-RU" sz="2200" b="1" dirty="0"/>
              <a:t>Спринт 1: </a:t>
            </a:r>
          </a:p>
          <a:p>
            <a:r>
              <a:rPr lang="ru-RU" sz="2200" b="1" dirty="0"/>
              <a:t>Что сделано: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Сбор </a:t>
            </a:r>
            <a:r>
              <a:rPr lang="ru-RU" sz="2200" dirty="0" err="1"/>
              <a:t>датасета</a:t>
            </a:r>
            <a:r>
              <a:rPr lang="ru-RU" sz="2200" dirty="0"/>
              <a:t> на 101219 </a:t>
            </a:r>
            <a:r>
              <a:rPr lang="en-US" sz="2200" dirty="0"/>
              <a:t>URL</a:t>
            </a:r>
            <a:r>
              <a:rPr lang="ru-RU" sz="2200" dirty="0"/>
              <a:t> 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Обучение базовой модели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Создание каркаса API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Создание</a:t>
            </a:r>
            <a:r>
              <a:rPr lang="en-US" sz="2200" dirty="0"/>
              <a:t> GitHub</a:t>
            </a:r>
            <a:r>
              <a:rPr lang="ru-RU" sz="2200" dirty="0"/>
              <a:t> репозитория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Разработка базового веб-интерфейса на </a:t>
            </a:r>
            <a:r>
              <a:rPr lang="en-US" sz="2200" dirty="0"/>
              <a:t>HTML/JS/CSS</a:t>
            </a:r>
            <a:endParaRPr lang="ru-RU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Локально провели тестирование модели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Сделаны наброски презентации</a:t>
            </a:r>
            <a:endParaRPr lang="en-US" sz="2200" dirty="0"/>
          </a:p>
          <a:p>
            <a:r>
              <a:rPr lang="ru-RU" sz="2200" b="1" dirty="0"/>
              <a:t>С какими трудностями столкнулись: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“</a:t>
            </a:r>
            <a:r>
              <a:rPr lang="ru-RU" sz="2200" dirty="0"/>
              <a:t>Грязный</a:t>
            </a:r>
            <a:r>
              <a:rPr lang="en-US" sz="2200" dirty="0"/>
              <a:t>”</a:t>
            </a:r>
            <a:r>
              <a:rPr lang="ru-RU" sz="2200" dirty="0"/>
              <a:t> </a:t>
            </a:r>
            <a:r>
              <a:rPr lang="ru-RU" sz="2200" dirty="0" err="1"/>
              <a:t>датасет</a:t>
            </a:r>
            <a:r>
              <a:rPr lang="ru-RU" sz="2200" dirty="0"/>
              <a:t>, пришлось очищать вручную</a:t>
            </a:r>
          </a:p>
          <a:p>
            <a:r>
              <a:rPr lang="ru-RU" sz="2200" b="1" dirty="0"/>
              <a:t>Результат: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Работающий сайт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847395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711994"/>
            <a:ext cx="7061219" cy="6146005"/>
          </a:xfrm>
        </p:spPr>
        <p:txBody>
          <a:bodyPr>
            <a:noAutofit/>
          </a:bodyPr>
          <a:lstStyle/>
          <a:p>
            <a:r>
              <a:rPr lang="ru-RU" sz="2200" b="1" dirty="0"/>
              <a:t>Спринт 2: </a:t>
            </a:r>
          </a:p>
          <a:p>
            <a:r>
              <a:rPr lang="ru-RU" sz="2200" b="1" dirty="0"/>
              <a:t>Что сделано: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Упаковали сервис в </a:t>
            </a:r>
            <a:r>
              <a:rPr lang="en-US" sz="2200" dirty="0"/>
              <a:t>Docker</a:t>
            </a:r>
            <a:r>
              <a:rPr lang="ru-RU" sz="2200" dirty="0"/>
              <a:t>-контейнер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Начали разработку полноценного сайта, не </a:t>
            </a:r>
            <a:r>
              <a:rPr lang="en-US" sz="2200" dirty="0"/>
              <a:t>“</a:t>
            </a:r>
            <a:r>
              <a:rPr lang="ru-RU" sz="2200" dirty="0"/>
              <a:t>заглушки</a:t>
            </a:r>
            <a:r>
              <a:rPr lang="en-US" sz="2200" dirty="0"/>
              <a:t>”</a:t>
            </a:r>
            <a:endParaRPr lang="ru-RU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Отобразили в презентации то чего достигли в ходе работы над проектом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Полностью организовали удобную работу с разделением ролей на </a:t>
            </a:r>
            <a:r>
              <a:rPr lang="en-US" sz="2200" dirty="0"/>
              <a:t>GitHub</a:t>
            </a:r>
            <a:endParaRPr lang="ru-RU" sz="2200" dirty="0"/>
          </a:p>
          <a:p>
            <a:r>
              <a:rPr lang="ru-RU" sz="2200" b="1" dirty="0"/>
              <a:t>С какими трудностями столкнулись: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Столкнулись с тем что сервис принимал адреса с пробелами внутри себя за легитимные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Не высокий уровень точности модели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После чистки </a:t>
            </a:r>
            <a:r>
              <a:rPr lang="ru-RU" sz="2200" dirty="0" err="1"/>
              <a:t>датасета</a:t>
            </a:r>
            <a:r>
              <a:rPr lang="ru-RU" sz="2200" dirty="0"/>
              <a:t> осталось </a:t>
            </a:r>
            <a:r>
              <a:rPr lang="en-US" sz="2200" dirty="0"/>
              <a:t>~</a:t>
            </a:r>
            <a:r>
              <a:rPr lang="ru-RU" sz="2200" dirty="0"/>
              <a:t>3000 строк</a:t>
            </a:r>
          </a:p>
          <a:p>
            <a:r>
              <a:rPr lang="ru-RU" sz="2200" b="1" dirty="0"/>
              <a:t>Результат: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Функционирующий прототип в </a:t>
            </a:r>
            <a:r>
              <a:rPr lang="ru-RU" sz="2200" dirty="0" err="1"/>
              <a:t>Docker</a:t>
            </a:r>
            <a:r>
              <a:rPr lang="ru-RU" sz="2200" dirty="0"/>
              <a:t>-контейнере, полностью организованная работа через </a:t>
            </a:r>
            <a:r>
              <a:rPr lang="ru-RU" sz="2200" dirty="0" err="1"/>
              <a:t>GitHub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958933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2409" y="684370"/>
            <a:ext cx="7043618" cy="4519612"/>
          </a:xfrm>
        </p:spPr>
        <p:txBody>
          <a:bodyPr>
            <a:normAutofit/>
          </a:bodyPr>
          <a:lstStyle/>
          <a:p>
            <a:r>
              <a:rPr lang="ru-RU" sz="2200" b="1" dirty="0"/>
              <a:t>Спринт 3: </a:t>
            </a:r>
          </a:p>
          <a:p>
            <a:r>
              <a:rPr lang="ru-RU" sz="2200" b="1" dirty="0"/>
              <a:t>Что сделано: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Разместили проект на сервере</a:t>
            </a:r>
            <a:endParaRPr lang="ru-RU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Перешли на новый </a:t>
            </a:r>
            <a:r>
              <a:rPr lang="ru-RU" sz="2200" dirty="0" err="1"/>
              <a:t>датасет</a:t>
            </a:r>
            <a:r>
              <a:rPr lang="ru-RU" sz="2200" dirty="0"/>
              <a:t> и сбалансировали его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Переобучили модель на новом </a:t>
            </a:r>
            <a:r>
              <a:rPr lang="ru-RU" sz="2200" dirty="0" err="1"/>
              <a:t>датасете</a:t>
            </a:r>
            <a:r>
              <a:rPr lang="ru-RU" sz="22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Провели тестирование модели</a:t>
            </a:r>
          </a:p>
          <a:p>
            <a:r>
              <a:rPr lang="ru-RU" sz="2200" b="1" dirty="0"/>
              <a:t>С какими трудностями столкнулись: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Модель выдает подозрительный результат на популярные сайты по типу </a:t>
            </a:r>
            <a:r>
              <a:rPr lang="en-US" sz="2200" dirty="0"/>
              <a:t>google.com</a:t>
            </a:r>
            <a:endParaRPr lang="ru-RU" sz="2200" dirty="0"/>
          </a:p>
          <a:p>
            <a:r>
              <a:rPr lang="ru-RU" sz="2200" b="1" dirty="0"/>
              <a:t>Результат: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Сайт доступен 24/7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Модель стала немного точнее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769101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82409" y="734377"/>
            <a:ext cx="7043618" cy="4519612"/>
          </a:xfrm>
        </p:spPr>
        <p:txBody>
          <a:bodyPr>
            <a:normAutofit/>
          </a:bodyPr>
          <a:lstStyle/>
          <a:p>
            <a:r>
              <a:rPr lang="ru-RU" sz="2200" b="1" dirty="0"/>
              <a:t>Спринт 4: </a:t>
            </a:r>
          </a:p>
          <a:p>
            <a:r>
              <a:rPr lang="ru-RU" sz="2200" b="1" dirty="0"/>
              <a:t>Что сделано: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Исправили проблему с выдачей подозрительных результатов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Добавили в </a:t>
            </a:r>
            <a:r>
              <a:rPr lang="ru-RU" sz="2200" dirty="0" err="1"/>
              <a:t>датасет</a:t>
            </a:r>
            <a:r>
              <a:rPr lang="ru-RU" sz="2200" dirty="0"/>
              <a:t> больше признаков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Переобучили модель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Подготовили презентацию проекта</a:t>
            </a:r>
          </a:p>
          <a:p>
            <a:r>
              <a:rPr lang="ru-RU" sz="2200" b="1" dirty="0"/>
              <a:t>С какими трудностями столкнулись: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Недоделаны сайт и презентация</a:t>
            </a:r>
          </a:p>
          <a:p>
            <a:r>
              <a:rPr lang="ru-RU" sz="2200" b="1" dirty="0"/>
              <a:t>Результат: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Модель стала выдавать более точные результаты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597081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692943"/>
            <a:ext cx="7043618" cy="4519612"/>
          </a:xfrm>
        </p:spPr>
        <p:txBody>
          <a:bodyPr>
            <a:normAutofit/>
          </a:bodyPr>
          <a:lstStyle/>
          <a:p>
            <a:r>
              <a:rPr lang="ru-RU" sz="2200" b="1" dirty="0"/>
              <a:t>Спринт 5: </a:t>
            </a:r>
          </a:p>
          <a:p>
            <a:r>
              <a:rPr lang="ru-RU" sz="2200" b="1" dirty="0"/>
              <a:t>Что сделано: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Доработали сайт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Доработали презентацию проекта</a:t>
            </a:r>
          </a:p>
          <a:p>
            <a:r>
              <a:rPr lang="ru-RU" sz="2200" b="1" dirty="0"/>
              <a:t>Результат: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dirty="0"/>
              <a:t>Мы готовы презентовать наш проект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354483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7043617" cy="593726"/>
          </a:xfrm>
        </p:spPr>
        <p:txBody>
          <a:bodyPr/>
          <a:lstStyle/>
          <a:p>
            <a:r>
              <a:rPr lang="ru-RU" dirty="0"/>
              <a:t>рефлексия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1779588"/>
            <a:ext cx="7043618" cy="4262395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Технические вызовы: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Интеграция ML.NET в ASP.NET Core без Python.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 err="1"/>
              <a:t>Извлечени</a:t>
            </a:r>
            <a:r>
              <a:rPr lang="ru-RU" dirty="0"/>
              <a:t> значимых признаков из «сырых» доменных имён.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Обеспечение быстрого ответа API при загрузке модели.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Как решали: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Модель загружается один раз при старте и хранится в памяти.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dirty="0"/>
              <a:t>Кэширование результатов для часто запрашиваемых доменов.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Команда научилась эффективно разделять зоны ответственности и координировать работу через </a:t>
            </a:r>
            <a:r>
              <a:rPr lang="ru-RU" dirty="0" err="1"/>
              <a:t>GitHub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199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5715000" cy="2579218"/>
          </a:xfrm>
        </p:spPr>
        <p:txBody>
          <a:bodyPr/>
          <a:lstStyle/>
          <a:p>
            <a:r>
              <a:rPr lang="ru-RU" dirty="0"/>
              <a:t>ссылки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GitHub:</a:t>
            </a:r>
          </a:p>
          <a:p>
            <a:r>
              <a:rPr lang="en-US" dirty="0">
                <a:hlinkClick r:id="rId3"/>
              </a:rPr>
              <a:t>https://github.com/andreyilych/cs2valvesoftware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Сайт:</a:t>
            </a:r>
          </a:p>
          <a:p>
            <a:r>
              <a:rPr lang="en-US" dirty="0"/>
              <a:t>http://79.174.85.57/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{EADC1FA1-7F4F-4255-BCA3-65C2CC27D9D7}TF8a9b5915-b8c7-461e-8cdd-693d48b5e32371f7b7e2_win32-4bf0b9a2ea37</Template>
  <TotalTime>645</TotalTime>
  <Words>1459</Words>
  <Application>Microsoft Office PowerPoint</Application>
  <PresentationFormat>Широкоэкранный</PresentationFormat>
  <Paragraphs>229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Calibri</vt:lpstr>
      <vt:lpstr>Courier New</vt:lpstr>
      <vt:lpstr>Sabon Next LT</vt:lpstr>
      <vt:lpstr>Custom</vt:lpstr>
      <vt:lpstr>анализатор подозрительности доменных имен (DNS)</vt:lpstr>
      <vt:lpstr>Актуальность и проблема</vt:lpstr>
      <vt:lpstr>Цель</vt:lpstr>
      <vt:lpstr>задачи</vt:lpstr>
      <vt:lpstr>Целевая аудитория</vt:lpstr>
      <vt:lpstr>Лысенко Андрей (orange) - руководитель, backend-разработчик (ответственный за ML и её интеграцию)</vt:lpstr>
      <vt:lpstr>Сенин Максим (purple) - frontend-разработчик, дизайнер сайта (ответственный за сайт и интеграцию модели)</vt:lpstr>
      <vt:lpstr>Данилин Дмитрий (green) - визуализатор данных, разработчик презентации, дизайнер сайта (ответственный за презентацию)</vt:lpstr>
      <vt:lpstr>Морозов Владимир (blue) – тестировщик, ассистент разработчика презентации, презентатор (демонстрирует продукт и его работу)</vt:lpstr>
      <vt:lpstr>Используемые данные (датасет)</vt:lpstr>
      <vt:lpstr>Почему выбран  Phishing URLs Dataset</vt:lpstr>
      <vt:lpstr>Источники данных</vt:lpstr>
      <vt:lpstr>Источники данных</vt:lpstr>
      <vt:lpstr>Презентация PowerPoint</vt:lpstr>
      <vt:lpstr>Примеры записей</vt:lpstr>
      <vt:lpstr>Сравнительная таблица конкурентов</vt:lpstr>
      <vt:lpstr>Сравнение с нашим проектом</vt:lpstr>
      <vt:lpstr>Модель машинного обучения</vt:lpstr>
      <vt:lpstr>Описание алгоритма FastTree</vt:lpstr>
      <vt:lpstr>Метрики качества модели</vt:lpstr>
      <vt:lpstr>Почему C# и ML.NET</vt:lpstr>
      <vt:lpstr>Деплой и инфраструктура</vt:lpstr>
      <vt:lpstr>Демонстрация работы сайта</vt:lpstr>
      <vt:lpstr>Итоги работы по спринтам</vt:lpstr>
      <vt:lpstr>Презентация PowerPoint</vt:lpstr>
      <vt:lpstr>Презентация PowerPoint</vt:lpstr>
      <vt:lpstr>Презентация PowerPoint</vt:lpstr>
      <vt:lpstr>Презентация PowerPoint</vt:lpstr>
      <vt:lpstr>рефлексия</vt:lpstr>
      <vt:lpstr>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анализатор подозрительности доменных имен (DNS)</dc:title>
  <dc:subject/>
  <dc:creator>11 minizlob</dc:creator>
  <cp:lastModifiedBy>11 minizlob</cp:lastModifiedBy>
  <cp:revision>71</cp:revision>
  <dcterms:created xsi:type="dcterms:W3CDTF">2026-05-06T20:04:08Z</dcterms:created>
  <dcterms:modified xsi:type="dcterms:W3CDTF">2026-05-10T20:45:32Z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