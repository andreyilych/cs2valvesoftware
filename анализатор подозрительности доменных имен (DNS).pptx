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5"/>
  </p:notesMasterIdLst>
  <p:handoutMasterIdLst>
    <p:handoutMasterId r:id="rId36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37" r:id="rId15"/>
    <p:sldId id="322" r:id="rId16"/>
    <p:sldId id="338" r:id="rId17"/>
    <p:sldId id="345" r:id="rId18"/>
    <p:sldId id="329" r:id="rId19"/>
    <p:sldId id="319" r:id="rId20"/>
    <p:sldId id="327" r:id="rId21"/>
    <p:sldId id="317" r:id="rId22"/>
    <p:sldId id="335" r:id="rId23"/>
    <p:sldId id="318" r:id="rId24"/>
    <p:sldId id="334" r:id="rId25"/>
    <p:sldId id="331" r:id="rId26"/>
    <p:sldId id="321" r:id="rId27"/>
    <p:sldId id="333" r:id="rId28"/>
    <p:sldId id="341" r:id="rId29"/>
    <p:sldId id="342" r:id="rId30"/>
    <p:sldId id="344" r:id="rId31"/>
    <p:sldId id="343" r:id="rId32"/>
    <p:sldId id="332" r:id="rId33"/>
    <p:sldId id="297" r:id="rId3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7" autoAdjust="0"/>
    <p:restoredTop sz="95388" autoAdjust="0"/>
  </p:normalViewPr>
  <p:slideViewPr>
    <p:cSldViewPr snapToGrid="0" snapToObjects="1">
      <p:cViewPr>
        <p:scale>
          <a:sx n="75" d="100"/>
          <a:sy n="75" d="100"/>
        </p:scale>
        <p:origin x="294" y="17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Распределение классов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05D-446C-B9B7-FD4F2EFDC5FD}"/>
              </c:ext>
            </c:extLst>
          </c:dPt>
          <c:dPt>
            <c:idx val="1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5D-446C-B9B7-FD4F2EFDC5F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715DB43-95CE-4AAD-9753-2683C93DC0DE}" type="VALUE">
                      <a:rPr lang="en-US" baseline="0">
                        <a:solidFill>
                          <a:schemeClr val="bg1"/>
                        </a:solidFill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05D-446C-B9B7-FD4F2EFDC5FD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05D-446C-B9B7-FD4F2EFDC5F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Лист1!$A$2:$A$3</c:f>
              <c:strCache>
                <c:ptCount val="2"/>
                <c:pt idx="0">
                  <c:v>Фишинговые</c:v>
                </c:pt>
                <c:pt idx="1">
                  <c:v>Легитимные</c:v>
                </c:pt>
              </c:strCache>
            </c:strRef>
          </c:cat>
          <c:val>
            <c:numRef>
              <c:f>Лист1!$B$2:$B$3</c:f>
              <c:numCache>
                <c:formatCode>0.00%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D-446C-B9B7-FD4F2EFDC5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0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992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64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078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697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317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33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494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9782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визуализатор данных, дизайнер сайта</a:t>
            </a:r>
            <a:r>
              <a:rPr lang="en-US" dirty="0"/>
              <a:t>, </a:t>
            </a:r>
            <a:r>
              <a:rPr lang="ru-RU" dirty="0"/>
              <a:t>разработчик презентации,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649194"/>
            <a:ext cx="5259554" cy="5970392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– тестировщик, ассистент разработчика презентации, презентатор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5203307" cy="56036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</a:rPr>
              <a:t>https://www.kaggle.com/datasets/hassaanmustafavi/phishing-urls-dataset?resource=download </a:t>
            </a:r>
            <a:r>
              <a:rPr lang="af-ZA" sz="2200" dirty="0">
                <a:solidFill>
                  <a:srgbClr val="202C8F"/>
                </a:solidFill>
              </a:rPr>
              <a:t>Phishing URLs Dataset </a:t>
            </a:r>
            <a:r>
              <a:rPr lang="ru-RU" sz="2200" dirty="0">
                <a:solidFill>
                  <a:srgbClr val="202C8F"/>
                </a:solidFill>
              </a:rPr>
              <a:t>(автор: </a:t>
            </a:r>
            <a:r>
              <a:rPr lang="af-ZA" sz="2200" dirty="0">
                <a:solidFill>
                  <a:srgbClr val="202C8F"/>
                </a:solidFill>
              </a:rPr>
              <a:t>Hassaan Mustafavi</a:t>
            </a:r>
            <a:r>
              <a:rPr lang="ru-RU" sz="2200" dirty="0">
                <a:solidFill>
                  <a:srgbClr val="202C8F"/>
                </a:solidFill>
              </a:rPr>
              <a:t>).</a:t>
            </a:r>
          </a:p>
          <a:p>
            <a:pPr marL="0" indent="0">
              <a:buNone/>
            </a:pPr>
            <a:r>
              <a:rPr lang="ru-RU" sz="2200" dirty="0">
                <a:solidFill>
                  <a:srgbClr val="202C8F"/>
                </a:solidFill>
              </a:rPr>
              <a:t>Подготовка данных: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Исходный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очищен от дубликатов 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Проведена балансировка данных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Добавлены признаки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В итоге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содержит </a:t>
            </a:r>
            <a:r>
              <a:rPr lang="ru-RU" sz="2400" dirty="0"/>
              <a:t>97766 </a:t>
            </a:r>
            <a:r>
              <a:rPr lang="en-US" sz="2400" dirty="0"/>
              <a:t>URL </a:t>
            </a:r>
            <a:r>
              <a:rPr lang="ru-RU" sz="2400" dirty="0"/>
              <a:t>и 27 признаков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9881290"/>
              </p:ext>
            </p:extLst>
          </p:nvPr>
        </p:nvGraphicFramePr>
        <p:xfrm>
          <a:off x="7374464" y="5532922"/>
          <a:ext cx="4724400" cy="13161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8504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1366487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759409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97766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</a:tbl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BCB98B98-13E9-4A15-967D-EE2E66D4D0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6202486"/>
              </p:ext>
            </p:extLst>
          </p:nvPr>
        </p:nvGraphicFramePr>
        <p:xfrm>
          <a:off x="7374464" y="1239638"/>
          <a:ext cx="4724400" cy="42843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Почему выбран </a:t>
            </a:r>
            <a:br>
              <a:rPr lang="ru-RU" dirty="0"/>
            </a:br>
            <a:r>
              <a:rPr lang="af-ZA" dirty="0"/>
              <a:t>Phishing URLs 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9662159" cy="5603682"/>
          </a:xfrm>
        </p:spPr>
        <p:txBody>
          <a:bodyPr>
            <a:noAutofit/>
          </a:bodyPr>
          <a:lstStyle/>
          <a:p>
            <a:r>
              <a:rPr lang="ru-RU" sz="2200" b="1" dirty="0"/>
              <a:t>Масштаб и разнообразие</a:t>
            </a:r>
            <a:br>
              <a:rPr lang="ru-RU" sz="2200" dirty="0"/>
            </a:br>
            <a:r>
              <a:rPr lang="ru-RU" sz="2200" dirty="0"/>
              <a:t>Более 450 000 реальных URL из разных источников покрывают широкий спектр фишинговых и легитимных паттернов.</a:t>
            </a:r>
          </a:p>
          <a:p>
            <a:r>
              <a:rPr lang="ru-RU" sz="2200" b="1" dirty="0"/>
              <a:t>Актуальность и качество</a:t>
            </a:r>
            <a:br>
              <a:rPr lang="ru-RU" sz="2200" dirty="0"/>
            </a:br>
            <a:r>
              <a:rPr lang="ru-RU" sz="2200" dirty="0"/>
              <a:t>Данные предварительно очищены и подготовлены для </a:t>
            </a:r>
            <a:r>
              <a:rPr lang="ru-RU" sz="2200" dirty="0" err="1"/>
              <a:t>machine</a:t>
            </a:r>
            <a:r>
              <a:rPr lang="ru-RU" sz="2200" dirty="0"/>
              <a:t> </a:t>
            </a:r>
            <a:r>
              <a:rPr lang="ru-RU" sz="2200" dirty="0" err="1"/>
              <a:t>learning</a:t>
            </a:r>
            <a:r>
              <a:rPr lang="ru-RU" sz="2200" dirty="0"/>
              <a:t>, что сократило время предобработки и позволило сосредоточиться на обучении модели.</a:t>
            </a:r>
          </a:p>
          <a:p>
            <a:r>
              <a:rPr lang="ru-RU" sz="2200" b="1" dirty="0"/>
              <a:t>Простота интеграции</a:t>
            </a:r>
            <a:br>
              <a:rPr lang="ru-RU" sz="2200" dirty="0"/>
            </a:br>
            <a:r>
              <a:rPr lang="ru-RU" sz="2200" dirty="0"/>
              <a:t>Стандартный CSV-формат легко загружается в ML.NET без дополнительных зависимостей и сложных </a:t>
            </a:r>
            <a:r>
              <a:rPr lang="ru-RU" sz="2200" dirty="0" err="1"/>
              <a:t>пайплайнов</a:t>
            </a:r>
            <a:r>
              <a:rPr lang="ru-RU" sz="2200" dirty="0"/>
              <a:t> обработки.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3484659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URL: собраны из актуальных открытых баз угроз (</a:t>
            </a:r>
            <a:r>
              <a:rPr lang="ru-RU" sz="2200" dirty="0" err="1"/>
              <a:t>PhishTank</a:t>
            </a:r>
            <a:r>
              <a:rPr lang="ru-RU" sz="2200" dirty="0"/>
              <a:t>, </a:t>
            </a:r>
            <a:r>
              <a:rPr lang="ru-RU" sz="2200" dirty="0" err="1"/>
              <a:t>OpenPhish</a:t>
            </a:r>
            <a:r>
              <a:rPr lang="ru-RU" sz="2200" dirty="0"/>
              <a:t>) и вручную верифицированы автором </a:t>
            </a:r>
            <a:r>
              <a:rPr lang="ru-RU" sz="2200" dirty="0" err="1"/>
              <a:t>датасета</a:t>
            </a:r>
            <a:r>
              <a:rPr lang="ru-RU" sz="2200" dirty="0"/>
              <a:t> — реальные примеры атак без «мусорных» записей.</a:t>
            </a:r>
          </a:p>
          <a:p>
            <a:r>
              <a:rPr lang="ru-RU" sz="2200" dirty="0"/>
              <a:t>Легитимные URL: отобраны из авторитетных рейтингов и каталогов (</a:t>
            </a:r>
            <a:r>
              <a:rPr lang="ru-RU" sz="2200" dirty="0" err="1"/>
              <a:t>Alexa</a:t>
            </a:r>
            <a:r>
              <a:rPr lang="ru-RU" sz="2200" dirty="0"/>
              <a:t> Top </a:t>
            </a:r>
            <a:r>
              <a:rPr lang="ru-RU" sz="2200" dirty="0" err="1"/>
              <a:t>Sites</a:t>
            </a:r>
            <a:r>
              <a:rPr lang="ru-RU" sz="2200" dirty="0"/>
              <a:t>, DMOZ, Wikipedia) для максимального разнообразия безопасных доменов.</a:t>
            </a:r>
          </a:p>
          <a:p>
            <a:r>
              <a:rPr lang="ru-RU" sz="2200" dirty="0"/>
              <a:t>Особенность: изначально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классам, а дополнительная очистка и отбор признаков с нашей стороны повысили устойчивость модели к шумам.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928688"/>
            <a:ext cx="10511627" cy="619126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6720" y="1584962"/>
            <a:ext cx="11323320" cy="52730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Источники фишинговых URL</a:t>
            </a:r>
          </a:p>
          <a:p>
            <a:pPr marL="0" indent="0">
              <a:buNone/>
            </a:pPr>
            <a:r>
              <a:rPr lang="ru-RU" sz="2200" b="1" dirty="0" err="1"/>
              <a:t>PhishTank</a:t>
            </a:r>
            <a:r>
              <a:rPr lang="ru-RU" sz="2200" dirty="0"/>
              <a:t> — бесплатный коллективный сервис (с 2006 г., управляется Cisco </a:t>
            </a:r>
            <a:r>
              <a:rPr lang="ru-RU" sz="2200" dirty="0" err="1"/>
              <a:t>Talos</a:t>
            </a:r>
            <a:r>
              <a:rPr lang="ru-RU" sz="2200" dirty="0"/>
              <a:t>), где любой может отправить, проверить и отследить фишинговые ссылки. Предоставляет открытое API и считается отраслевым стандартом для </a:t>
            </a:r>
            <a:r>
              <a:rPr lang="ru-RU" sz="2200" dirty="0" err="1"/>
              <a:t>антифишинговых</a:t>
            </a:r>
            <a:r>
              <a:rPr lang="ru-RU" sz="2200" dirty="0"/>
              <a:t> исследований.</a:t>
            </a:r>
            <a:br>
              <a:rPr lang="ru-RU" sz="2200" dirty="0"/>
            </a:br>
            <a:r>
              <a:rPr lang="ru-RU" sz="2200" b="1" dirty="0" err="1"/>
              <a:t>OpenPhish</a:t>
            </a:r>
            <a:r>
              <a:rPr lang="ru-RU" sz="2200" dirty="0"/>
              <a:t> — полностью автоматическая платформа (разработана </a:t>
            </a:r>
            <a:r>
              <a:rPr lang="ru-RU" sz="2200" dirty="0" err="1"/>
              <a:t>FraudSense</a:t>
            </a:r>
            <a:r>
              <a:rPr lang="ru-RU" sz="2200" dirty="0"/>
              <a:t>), которая с помощью ИИ выявляет фишинговые сайты в реальном времени без опоры на черные списки. Предоставляет непрерывно обновляемую ленту глобальных фишинговых URL.</a:t>
            </a:r>
          </a:p>
          <a:p>
            <a:pPr marL="0" indent="0">
              <a:buNone/>
            </a:pPr>
            <a:r>
              <a:rPr lang="ru-RU" sz="2200" b="1" dirty="0"/>
              <a:t>Источники легитимных URL</a:t>
            </a:r>
          </a:p>
          <a:p>
            <a:pPr marL="0" indent="0">
              <a:buNone/>
            </a:pPr>
            <a:r>
              <a:rPr lang="ru-RU" sz="2200" b="1" dirty="0" err="1"/>
              <a:t>Alexa</a:t>
            </a:r>
            <a:r>
              <a:rPr lang="ru-RU" sz="2200" b="1" dirty="0"/>
              <a:t> Top </a:t>
            </a:r>
            <a:r>
              <a:rPr lang="ru-RU" sz="2200" b="1" dirty="0" err="1"/>
              <a:t>Sites</a:t>
            </a:r>
            <a:r>
              <a:rPr lang="ru-RU" sz="2200" b="1" dirty="0"/>
              <a:t> </a:t>
            </a:r>
            <a:r>
              <a:rPr lang="ru-RU" sz="2200" dirty="0"/>
              <a:t>— сервис рейтинга сайтов (дочерний проект Amazon, закрыт в 2022 г.), предоставлявший список 1 млн самых посещаемых сайтов мира. Использовался в исследованиях как источник эталонных легитимных доменов.</a:t>
            </a:r>
            <a:br>
              <a:rPr lang="ru-RU" sz="2200" dirty="0"/>
            </a:br>
            <a:r>
              <a:rPr lang="ru-RU" sz="2200" b="1" dirty="0"/>
              <a:t>DMOZ</a:t>
            </a:r>
            <a:r>
              <a:rPr lang="ru-RU" sz="2200" dirty="0"/>
              <a:t> — многоязычный свободный каталог сайтов (поддерживался AOL и сообществом редакторов-волонтеров), где все записи проходили ручную модерацию. Один из крупнейших структурированных источников ссылок своего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07356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644C23F-1519-42D0-B6F2-6E99D5E94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791" y="0"/>
            <a:ext cx="8296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132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718895664"/>
              </p:ext>
            </p:extLst>
          </p:nvPr>
        </p:nvGraphicFramePr>
        <p:xfrm>
          <a:off x="2198285" y="2273439"/>
          <a:ext cx="8160152" cy="46065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URL)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en.wikipedia.org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192.168.1.1/login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bit.ly/3xyz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634239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66035707"/>
              </p:ext>
            </p:extLst>
          </p:nvPr>
        </p:nvGraphicFramePr>
        <p:xfrm>
          <a:off x="1152939" y="1458755"/>
          <a:ext cx="10277060" cy="555500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Ответ моментальный.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Открытый исходный код.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Разный стек, часто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Python.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Простое API для любой системы, бесплатный.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C#. </a:t>
            </a:r>
            <a:r>
              <a:rPr lang="ru-RU" sz="2200" dirty="0"/>
              <a:t>Никакого </a:t>
            </a:r>
            <a:r>
              <a:rPr lang="en-US" sz="2200" dirty="0"/>
              <a:t>Python – </a:t>
            </a:r>
            <a:r>
              <a:rPr lang="ru-RU" sz="2200" dirty="0"/>
              <a:t>всё в единой экосистеме .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</a:t>
            </a:r>
            <a:r>
              <a:rPr lang="en-US" sz="2200" dirty="0" err="1"/>
              <a:t>FastTree</a:t>
            </a:r>
            <a:r>
              <a:rPr lang="ru-RU" sz="2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 </a:t>
            </a:r>
          </a:p>
          <a:p>
            <a:r>
              <a:rPr lang="ru-RU" sz="2200" dirty="0"/>
              <a:t>Загрузка </a:t>
            </a:r>
            <a:r>
              <a:rPr lang="en-US" sz="2200" dirty="0"/>
              <a:t>legitphish_clean.csv.</a:t>
            </a:r>
          </a:p>
          <a:p>
            <a:r>
              <a:rPr lang="ru-RU" sz="2200" dirty="0"/>
              <a:t>Извлечение признаков и обучение в </a:t>
            </a:r>
            <a:r>
              <a:rPr lang="en-US" sz="2200" dirty="0" err="1"/>
              <a:t>DnsModelTrainer</a:t>
            </a:r>
            <a:r>
              <a:rPr lang="en-US" sz="2200" dirty="0"/>
              <a:t>.</a:t>
            </a:r>
          </a:p>
          <a:p>
            <a:r>
              <a:rPr lang="ru-RU" sz="2200" dirty="0"/>
              <a:t>Сохранение </a:t>
            </a:r>
            <a:r>
              <a:rPr lang="en-US" sz="2200" dirty="0"/>
              <a:t>dns_suspicion_model.zip.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Описание алгоритма </a:t>
            </a:r>
            <a:r>
              <a:rPr lang="af-ZA" dirty="0"/>
              <a:t>FastTree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af-ZA" sz="2200" dirty="0"/>
              <a:t>FastTree — </a:t>
            </a:r>
            <a:r>
              <a:rPr lang="ru-RU" sz="2200" dirty="0"/>
              <a:t>реализация градиентного </a:t>
            </a:r>
            <a:r>
              <a:rPr lang="ru-RU" sz="2200" dirty="0" err="1"/>
              <a:t>бустинга</a:t>
            </a:r>
            <a:r>
              <a:rPr lang="ru-RU" sz="2200" dirty="0"/>
              <a:t> деревьев решений в </a:t>
            </a:r>
            <a:r>
              <a:rPr lang="af-ZA" sz="2200" dirty="0"/>
              <a:t>ML.NET. </a:t>
            </a:r>
            <a:r>
              <a:rPr lang="ru-RU" sz="2200" dirty="0"/>
              <a:t>Алгоритм строит ансамбль решающих деревьев, минимизируя функцию потерь градиентным спуском. Ключевые гиперпараметры, использованные при обучении: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Trees (</a:t>
            </a:r>
            <a:r>
              <a:rPr lang="ru-RU" sz="2200" dirty="0"/>
              <a:t>количество деревьев): 100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Leaves (</a:t>
            </a:r>
            <a:r>
              <a:rPr lang="ru-RU" sz="2200" dirty="0"/>
              <a:t>число листьев на дерево): 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Learning Rate (</a:t>
            </a:r>
            <a:r>
              <a:rPr lang="ru-RU" sz="2200" dirty="0"/>
              <a:t>темп обучения): 0.2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Minimum Example Count per Leaf: 10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Feature Fraction: 0.7 (</a:t>
            </a:r>
            <a:r>
              <a:rPr lang="ru-RU" sz="2200" dirty="0"/>
              <a:t>доля признаков для построения одного дерева)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2043926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Отсутствие Python‑зависимостей, не требуется интерпретатор.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Высокая производительность: нативное выполнение, быстрый </a:t>
            </a:r>
            <a:r>
              <a:rPr lang="ru-RU" dirty="0" err="1"/>
              <a:t>инференс</a:t>
            </a:r>
            <a:r>
              <a:rPr lang="ru-RU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Кроссплатформенность, контейнеризация через </a:t>
            </a:r>
            <a:r>
              <a:rPr lang="ru-RU" dirty="0" err="1"/>
              <a:t>Docker</a:t>
            </a:r>
            <a:r>
              <a:rPr lang="ru-RU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Модель – просто </a:t>
            </a:r>
            <a:r>
              <a:rPr lang="ru-RU" dirty="0" err="1"/>
              <a:t>zip</a:t>
            </a:r>
            <a:r>
              <a:rPr lang="ru-RU" dirty="0"/>
              <a:t>‑архив, легко обновляется.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Метрики качества модели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9433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200" dirty="0"/>
              <a:t>Модель демонстрирует высокую устойчивость: ложноположительные срабатывания минимальны, что критично для безопасности.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84597B91-405C-4C29-AB5A-96940C12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10512"/>
              </p:ext>
            </p:extLst>
          </p:nvPr>
        </p:nvGraphicFramePr>
        <p:xfrm>
          <a:off x="666254" y="3429001"/>
          <a:ext cx="8128000" cy="28575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8978686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04807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5870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dirty="0"/>
                        <a:t>Accuracy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76%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87163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2321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F1-score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528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AUC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953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324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02682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18" y="2185605"/>
            <a:ext cx="6936756" cy="38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Итоги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1: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Сбор </a:t>
            </a:r>
            <a:r>
              <a:rPr lang="ru-RU" sz="2200" dirty="0" err="1"/>
              <a:t>датасета</a:t>
            </a:r>
            <a:r>
              <a:rPr lang="ru-RU" sz="2200" dirty="0"/>
              <a:t> на 101219 </a:t>
            </a:r>
            <a:r>
              <a:rPr lang="en-US" sz="2200" dirty="0"/>
              <a:t>URL</a:t>
            </a:r>
            <a:r>
              <a:rPr lang="ru-RU" sz="2200" dirty="0"/>
              <a:t>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Обучение базовой модели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 каркаса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Разработка базового веб-интерфейса на </a:t>
            </a:r>
            <a:r>
              <a:rPr lang="en-US" sz="2200" dirty="0"/>
              <a:t>HTML/JS/CSS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Локально провели тестирование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Сделаны наброски презентации</a:t>
            </a:r>
            <a:endParaRPr lang="en-US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“</a:t>
            </a:r>
            <a:r>
              <a:rPr lang="ru-RU" sz="2200" dirty="0"/>
              <a:t>Грязный</a:t>
            </a:r>
            <a:r>
              <a:rPr lang="en-US" sz="2200" dirty="0"/>
              <a:t>”</a:t>
            </a:r>
            <a:r>
              <a:rPr lang="ru-RU" sz="2200" dirty="0"/>
              <a:t> </a:t>
            </a:r>
            <a:r>
              <a:rPr lang="ru-RU" sz="2200" dirty="0" err="1"/>
              <a:t>датасет</a:t>
            </a:r>
            <a:r>
              <a:rPr lang="ru-RU" sz="2200" dirty="0"/>
              <a:t>, пришлось очищать вручную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Работающий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65500" y="457994"/>
            <a:ext cx="8737600" cy="6400006"/>
          </a:xfrm>
        </p:spPr>
        <p:txBody>
          <a:bodyPr>
            <a:noAutofit/>
          </a:bodyPr>
          <a:lstStyle/>
          <a:p>
            <a:r>
              <a:rPr lang="ru-RU" sz="2200" b="1" dirty="0"/>
              <a:t>Спринт 2: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</a:t>
            </a:r>
            <a:r>
              <a:rPr lang="en-US" sz="2200" dirty="0"/>
              <a:t> GitHub</a:t>
            </a:r>
            <a:r>
              <a:rPr lang="ru-RU" sz="2200" dirty="0"/>
              <a:t> репозитория</a:t>
            </a:r>
            <a:endParaRPr lang="ru-RU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Упаковали сервис в </a:t>
            </a:r>
            <a:r>
              <a:rPr lang="en-US" sz="2200" dirty="0"/>
              <a:t>Docker</a:t>
            </a:r>
            <a:r>
              <a:rPr lang="ru-RU" sz="2200" dirty="0"/>
              <a:t>-контейнер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Разместили проект на сервере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Начали разработку полноценного сайта, не </a:t>
            </a:r>
            <a:r>
              <a:rPr lang="en-US" sz="2200" dirty="0"/>
              <a:t>“</a:t>
            </a:r>
            <a:r>
              <a:rPr lang="ru-RU" sz="2200" dirty="0"/>
              <a:t>заглушки</a:t>
            </a:r>
            <a:r>
              <a:rPr lang="en-US" sz="2200" dirty="0"/>
              <a:t>”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Отобразили в презентации то чего достигли в ходе работы над проектом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Полностью организовали удобную работу с разделением ролей на </a:t>
            </a:r>
            <a:r>
              <a:rPr lang="en-US" sz="2200" dirty="0"/>
              <a:t>GitHub</a:t>
            </a:r>
            <a:endParaRPr lang="ru-RU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Столкнулись с тем что сервис принимал адреса с пробелами внутри себя за легитимные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 высокий уровень точности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После чистки </a:t>
            </a:r>
            <a:r>
              <a:rPr lang="ru-RU" sz="2200" dirty="0" err="1"/>
              <a:t>датасета</a:t>
            </a:r>
            <a:r>
              <a:rPr lang="ru-RU" sz="2200" dirty="0"/>
              <a:t> осталось </a:t>
            </a:r>
            <a:r>
              <a:rPr lang="en-US" sz="2200" dirty="0"/>
              <a:t>~</a:t>
            </a:r>
            <a:r>
              <a:rPr lang="ru-RU" sz="2200" dirty="0"/>
              <a:t>3000 строк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Функционирующий прототип в </a:t>
            </a:r>
            <a:r>
              <a:rPr lang="ru-RU" sz="2200" dirty="0" err="1"/>
              <a:t>Docker</a:t>
            </a:r>
            <a:r>
              <a:rPr lang="ru-RU" sz="2200" dirty="0"/>
              <a:t>-контейнере, полностью организованная работа через </a:t>
            </a:r>
            <a:r>
              <a:rPr lang="ru-RU" sz="2200" dirty="0" err="1"/>
              <a:t>GitHub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 доступен 24/7</a:t>
            </a:r>
          </a:p>
        </p:txBody>
      </p:sp>
    </p:spTree>
    <p:extLst>
      <p:ext uri="{BB962C8B-B14F-4D97-AF65-F5344CB8AC3E}">
        <p14:creationId xmlns:p14="http://schemas.microsoft.com/office/powerpoint/2010/main" val="3958933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684370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3: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Перешли на новый </a:t>
            </a:r>
            <a:r>
              <a:rPr lang="ru-RU" sz="2200" dirty="0" err="1"/>
              <a:t>датасет</a:t>
            </a:r>
            <a:r>
              <a:rPr lang="ru-RU" sz="2200" dirty="0"/>
              <a:t>, очистили 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Добавили в </a:t>
            </a:r>
            <a:r>
              <a:rPr lang="ru-RU" sz="2200" dirty="0" err="1"/>
              <a:t>датасет</a:t>
            </a:r>
            <a:r>
              <a:rPr lang="ru-RU" sz="2200" dirty="0"/>
              <a:t> больше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 на новом </a:t>
            </a:r>
            <a:r>
              <a:rPr lang="ru-RU" sz="2200" dirty="0" err="1"/>
              <a:t>датасете</a:t>
            </a:r>
            <a:r>
              <a:rPr lang="ru-RU" sz="22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Провели тестирование модели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выдает подозрительный результат на популярные сайты по типу </a:t>
            </a:r>
            <a:r>
              <a:rPr lang="en-US" sz="2200" dirty="0"/>
              <a:t>google.com</a:t>
            </a:r>
            <a:endParaRPr lang="ru-RU" sz="2200" dirty="0"/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точнее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769101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734377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4: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Сбалансировали </a:t>
            </a:r>
            <a:r>
              <a:rPr lang="ru-RU" sz="2200" dirty="0" err="1"/>
              <a:t>датасет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Исправили проблему с выдачей подозрительных результатов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Подготовили презентацию проекта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Недоделаны сайт и презентация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выдавать более точные результаты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97081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692943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5: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презентацию проекта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Мы готовы презентовать наш проект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354483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 без Python.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Извлечение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en-US" dirty="0" err="1"/>
              <a:t>Yougile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025649"/>
            <a:ext cx="5715000" cy="622301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3032556"/>
            <a:ext cx="6349999" cy="223464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GitHub:</a:t>
            </a:r>
          </a:p>
          <a:p>
            <a:r>
              <a:rPr lang="en-US" dirty="0">
                <a:hlinkClick r:id="rId3"/>
              </a:rPr>
              <a:t>https://github.com/andreyilych/cs2valvesoftware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Сайт:</a:t>
            </a:r>
          </a:p>
          <a:p>
            <a:r>
              <a:rPr lang="en-US" dirty="0"/>
              <a:t>http://130.49.149.249/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755</TotalTime>
  <Words>1434</Words>
  <Application>Microsoft Office PowerPoint</Application>
  <PresentationFormat>Широкоэкранный</PresentationFormat>
  <Paragraphs>229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визуализатор данных, дизайнер сайта, разработчик презентации, (ответственный за презентацию)</vt:lpstr>
      <vt:lpstr>Морозов Владимир (blue) – тестировщик, ассистент разработчика презентации, презентатор (демонстрирует продукт и его работу)</vt:lpstr>
      <vt:lpstr>Используемые данные (датасет)</vt:lpstr>
      <vt:lpstr>Почему выбран  Phishing URLs Dataset</vt:lpstr>
      <vt:lpstr>Источники данных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Описание алгоритма FastTree</vt:lpstr>
      <vt:lpstr>Почему C# и ML.NET</vt:lpstr>
      <vt:lpstr>Метрики качества модели</vt:lpstr>
      <vt:lpstr>Деплой и инфраструктура</vt:lpstr>
      <vt:lpstr>Демонстрация работы сайта</vt:lpstr>
      <vt:lpstr>Итоги работы по спринтам</vt:lpstr>
      <vt:lpstr>Презентация PowerPoint</vt:lpstr>
      <vt:lpstr>Презентация PowerPoint</vt:lpstr>
      <vt:lpstr>Презентация PowerPoint</vt:lpstr>
      <vt:lpstr>Презентация PowerPoint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80</cp:revision>
  <dcterms:created xsi:type="dcterms:W3CDTF">2026-05-06T20:04:08Z</dcterms:created>
  <dcterms:modified xsi:type="dcterms:W3CDTF">2026-05-10T22:35:44Z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